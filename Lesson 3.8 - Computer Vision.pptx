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4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9" r:id="rId9"/>
    <p:sldId id="260" r:id="rId10"/>
    <p:sldId id="261" r:id="rId11"/>
    <p:sldId id="262" r:id="rId12"/>
    <p:sldId id="265" r:id="rId15"/>
    <p:sldId id="268" r:id="rId18"/>
    <p:sldId id="270" r:id="rId20"/>
    <p:sldId id="275" r:id="rId25"/>
    <p:sldId id="277" r:id="rId27"/>
    <p:sldId id="278" r:id="rId28"/>
    <p:sldId id="279" r:id="rId29"/>
    <p:sldId id="280" r:id="rId30"/>
    <p:sldId id="282" r:id="rId32"/>
    <p:sldId id="285" r:id="rId35"/>
  </p:sldIdLst>
  <p:sldSz cy="6858000" cx="12191675"/>
  <p:notesSz cx="6858000" cy="9144000"/>
  <p:embeddedFontLst>
    <p:embeddedFont>
      <p:font typeface="Open Sans Light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OpenSansLight-bold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44" Type="http://schemas.openxmlformats.org/officeDocument/2006/relationships/font" Target="fonts/OpenSans-boldItalic.fntdata"/><Relationship Id="rId4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37" Type="http://schemas.openxmlformats.org/officeDocument/2006/relationships/font" Target="fonts/OpenSansLight-regular.fntdata"/><Relationship Id="rId39" Type="http://schemas.openxmlformats.org/officeDocument/2006/relationships/font" Target="fonts/OpenSansLight-italic.fntdata"/><Relationship Id="rId38" Type="http://schemas.openxmlformats.org/officeDocument/2006/relationships/font" Target="fonts/OpenSansLight-bold.fntdata"/><Relationship Id="rId18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184c78215_0_0:notes"/>
          <p:cNvSpPr/>
          <p:nvPr>
            <p:ph idx="2" type="sldImg"/>
          </p:nvPr>
        </p:nvSpPr>
        <p:spPr>
          <a:xfrm>
            <a:off x="685873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g3f184c7821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1" name="Google Shape;51;g3f184c7821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to L08 — Computer Vision and CNNs. Marcus's next ask is to auto-tag product photos.</a:t>
            </a:r>
            <a:endParaRPr/>
          </a:p>
        </p:txBody>
      </p:sp>
      <p:sp>
        <p:nvSpPr>
          <p:cNvPr id="75" name="Google Shape;7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Last lesson Sarah trained her first NN. Marcus's next ask: auto-tag the catalogue.</a:t>
            </a:r>
            <a:endParaRPr/>
          </a:p>
        </p:txBody>
      </p:sp>
      <p:sp>
        <p:nvSpPr>
          <p:cNvPr id="85" name="Google Shape;8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questions structure today: what is an image? what is a CNN? when do we use transfer learning?</a:t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image is just a tensor. Channels-first convention: (batch, channels, height, width).</a:t>
            </a:r>
            <a:endParaRPr/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convolution slides a small kernel over an image. The kernel is just 9 numbers — and it can detect edges.</a:t>
            </a:r>
            <a:endParaRPr/>
          </a:p>
        </p:txBody>
      </p:sp>
      <p:sp>
        <p:nvSpPr>
          <p:cNvPr id="202" name="Google Shape;20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Stacking conv layers gives compositionality: edges → parts → objects.</a:t>
            </a:r>
            <a:endParaRPr/>
          </a:p>
        </p:txBody>
      </p:sp>
      <p:sp>
        <p:nvSpPr>
          <p:cNvPr id="266" name="Google Shape;26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canonical CNN block: Conv → ReLU → Pool. Stack a few of these + classifier head and you're done.</a:t>
            </a:r>
            <a:endParaRPr/>
          </a:p>
        </p:txBody>
      </p:sp>
      <p:sp>
        <p:nvSpPr>
          <p:cNvPr id="311" name="Google Shape;31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 catalogues don't have 60K labelled images. They have 500. That's where transfer learning matters.</a:t>
            </a:r>
            <a:endParaRPr/>
          </a:p>
        </p:txBody>
      </p:sp>
      <p:sp>
        <p:nvSpPr>
          <p:cNvPr id="397" name="Google Shape;39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transfer-learning patterns: feature extraction (freeze, train head) vs fine-tuning (unfreeze last block).</a:t>
            </a:r>
            <a:endParaRPr/>
          </a:p>
        </p:txBody>
      </p:sp>
      <p:sp>
        <p:nvSpPr>
          <p:cNvPr id="439" name="Google Shape;439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Honest finding: on Fashion-MNIST, head-only transfer LOSES to from-scratch CNN. Fine-tuning recovers.</a:t>
            </a:r>
            <a:endParaRPr/>
          </a:p>
        </p:txBody>
      </p:sp>
      <p:sp>
        <p:nvSpPr>
          <p:cNvPr id="458" name="Google Shape;45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2" name="Google Shape;48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Code-along on 04_transfer_learning.ipynb: 25 min, Core only.</a:t>
            </a:r>
            <a:endParaRPr/>
          </a:p>
        </p:txBody>
      </p:sp>
      <p:sp>
        <p:nvSpPr>
          <p:cNvPr id="483" name="Google Shape;48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9" name="Google Shape;49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Sarah's Friday recommendation for Marcus's auto-tagger.</a:t>
            </a:r>
            <a:endParaRPr/>
          </a:p>
        </p:txBody>
      </p:sp>
      <p:sp>
        <p:nvSpPr>
          <p:cNvPr id="500" name="Google Shape;50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things from L08.</a:t>
            </a:r>
            <a:endParaRPr/>
          </a:p>
        </p:txBody>
      </p:sp>
      <p:sp>
        <p:nvSpPr>
          <p:cNvPr id="541" name="Google Shape;541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week (L09): natural language search.</a:t>
            </a:r>
            <a:endParaRPr/>
          </a:p>
        </p:txBody>
      </p:sp>
      <p:sp>
        <p:nvSpPr>
          <p:cNvPr id="628" name="Google Shape;628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/3 Content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4255500" cy="65703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69357" y="458767"/>
            <a:ext cx="3886200" cy="121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272659" y="1897800"/>
            <a:ext cx="3982800" cy="443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b="1" sz="2900">
                <a:solidFill>
                  <a:schemeClr val="lt1"/>
                </a:solidFill>
              </a:defRPr>
            </a:lvl1pPr>
            <a:lvl2pPr lvl="1">
              <a:spcBef>
                <a:spcPts val="130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130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130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130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1300"/>
              </a:spcBef>
              <a:spcAft>
                <a:spcPts val="1300"/>
              </a:spcAft>
              <a:buSzPts val="19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461081" y="550100"/>
            <a:ext cx="7383000" cy="589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2/3 Content">
  <p:cSld name="CUSTOM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437248" y="197167"/>
            <a:ext cx="74022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8" name="Google Shape;28;p6"/>
          <p:cNvSpPr/>
          <p:nvPr>
            <p:ph idx="2" type="pic"/>
          </p:nvPr>
        </p:nvSpPr>
        <p:spPr>
          <a:xfrm>
            <a:off x="0" y="0"/>
            <a:ext cx="4084200" cy="6550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437315" y="1300800"/>
            <a:ext cx="7402200" cy="504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130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2/3 Content">
  <p:cSld name="CUSTOM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>
            <p:ph idx="2" type="pic"/>
          </p:nvPr>
        </p:nvSpPr>
        <p:spPr>
          <a:xfrm>
            <a:off x="8107384" y="0"/>
            <a:ext cx="4084200" cy="653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02053" y="1341900"/>
            <a:ext cx="7163700" cy="519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Column Content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609584" y="1167100"/>
            <a:ext cx="4803000" cy="475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6653156" y="1167100"/>
            <a:ext cx="4929000" cy="491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cxnSp>
        <p:nvCxnSpPr>
          <p:cNvPr id="38" name="Google Shape;38;p8"/>
          <p:cNvCxnSpPr/>
          <p:nvPr/>
        </p:nvCxnSpPr>
        <p:spPr>
          <a:xfrm>
            <a:off x="6095838" y="1403100"/>
            <a:ext cx="0" cy="4521300"/>
          </a:xfrm>
          <a:prstGeom prst="straightConnector1">
            <a:avLst/>
          </a:prstGeom>
          <a:noFill/>
          <a:ln cap="flat" cmpd="sng" w="12700">
            <a:solidFill>
              <a:srgbClr val="C51A4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ctrTitle"/>
          </p:nvPr>
        </p:nvSpPr>
        <p:spPr>
          <a:xfrm>
            <a:off x="914376" y="2130425"/>
            <a:ext cx="103629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1828751" y="3886200"/>
            <a:ext cx="8534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300"/>
              </a:spcBef>
              <a:spcAft>
                <a:spcPts val="130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10642679" y="6515076"/>
            <a:ext cx="93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1900" spcFirstLastPara="1" rIns="121900" wrap="square" tIns="6092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 rot="5400000">
            <a:off x="5940575" y="606904"/>
            <a:ext cx="310500" cy="121917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Char char="•"/>
              <a:defRPr i="0" sz="3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2750" lvl="1" marL="9144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Open Sans"/>
              <a:buChar char="–"/>
              <a:defRPr i="0" sz="2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400050" lvl="2" marL="13716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Char char="•"/>
              <a:defRPr i="0" sz="27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–"/>
              <a:defRPr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61950" lvl="4" marL="22860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Char char="»"/>
              <a:defRPr i="0" sz="2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8632103" y="6584067"/>
            <a:ext cx="355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en-US" sz="800">
                <a:solidFill>
                  <a:srgbClr val="FFFFFF"/>
                </a:solidFill>
              </a:rPr>
              <a:t>6</a:t>
            </a: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 xml:space="preserve"> Nanyang Technological University. All rights reserved. 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uilding with a balcony and trees  Description automatically generated" id="53" name="Google Shape;53;p12"/>
          <p:cNvPicPr preferRelativeResize="0"/>
          <p:nvPr/>
        </p:nvPicPr>
        <p:blipFill rotWithShape="1">
          <a:blip r:embed="rId3">
            <a:alphaModFix/>
          </a:blip>
          <a:srcRect b="0" l="0" r="33271" t="0"/>
          <a:stretch/>
        </p:blipFill>
        <p:spPr>
          <a:xfrm>
            <a:off x="6172156" y="0"/>
            <a:ext cx="6095841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/>
          <p:nvPr/>
        </p:nvSpPr>
        <p:spPr>
          <a:xfrm>
            <a:off x="6172155" y="5785658"/>
            <a:ext cx="6095700" cy="1072500"/>
          </a:xfrm>
          <a:prstGeom prst="rect">
            <a:avLst/>
          </a:prstGeom>
          <a:solidFill>
            <a:srgbClr val="181C62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0" y="5785658"/>
            <a:ext cx="6172200" cy="10725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1" y="0"/>
            <a:ext cx="457200" cy="68580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2"/>
          <p:cNvSpPr txBox="1"/>
          <p:nvPr/>
        </p:nvSpPr>
        <p:spPr>
          <a:xfrm>
            <a:off x="753947" y="2199834"/>
            <a:ext cx="48423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4000"/>
              <a:buFont typeface="Open Sans Light"/>
              <a:buNone/>
            </a:pPr>
            <a:r>
              <a:rPr lang="en-US" sz="3200">
                <a:solidFill>
                  <a:srgbClr val="181C6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(SCTP) Advanced Professional Certificate</a:t>
            </a:r>
            <a:endParaRPr sz="3200"/>
          </a:p>
        </p:txBody>
      </p:sp>
      <p:sp>
        <p:nvSpPr>
          <p:cNvPr id="58" name="Google Shape;58;p12"/>
          <p:cNvSpPr txBox="1"/>
          <p:nvPr/>
        </p:nvSpPr>
        <p:spPr>
          <a:xfrm>
            <a:off x="750001" y="3429000"/>
            <a:ext cx="51897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r>
              <a:rPr b="1" lang="en-US" sz="3200">
                <a:solidFill>
                  <a:srgbClr val="181C62"/>
                </a:solidFill>
                <a:latin typeface="Open Sans"/>
                <a:ea typeface="Open Sans"/>
                <a:cs typeface="Open Sans"/>
                <a:sym typeface="Open Sans"/>
              </a:rPr>
              <a:t>Data Science and AI</a:t>
            </a:r>
            <a:endParaRPr b="1" sz="3200">
              <a:solidFill>
                <a:srgbClr val="181C6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2"/>
          <p:cNvPicPr preferRelativeResize="0"/>
          <p:nvPr/>
        </p:nvPicPr>
        <p:blipFill rotWithShape="1">
          <a:blip r:embed="rId4">
            <a:alphaModFix/>
          </a:blip>
          <a:srcRect b="33662" l="0" r="0" t="30759"/>
          <a:stretch/>
        </p:blipFill>
        <p:spPr>
          <a:xfrm>
            <a:off x="457188" y="0"/>
            <a:ext cx="5684722" cy="13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7200"/>
              <a:buFont typeface="Open Sans"/>
              <a:buNone/>
            </a:pPr>
            <a:r>
              <a:rPr lang="en-US" sz="72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L08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48640" y="283464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Open Sans"/>
              <a:buNone/>
            </a:pPr>
            <a: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Computer</a:t>
            </a:r>
            <a:b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70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Vision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i="1"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CNNs &amp; Transfer Learning  ·  Sarah auto-tags product photos</a:t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Format:  ~90 min slides  ·  ~90 min hands-on  ·  self-paced extensions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Where We Left Off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From session features to pixels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548640" y="1737360"/>
            <a:ext cx="11064240" cy="172638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822960" y="1874519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Marcus, end of L07: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822960" y="2286000"/>
            <a:ext cx="105156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"Can we auto-tag product photos as dress, shirt, sneaker?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have ~10,000 new uploads each season."</a:t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548640" y="356616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What's different this week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640080" y="411480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New modality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4389120" y="4114800"/>
            <a:ext cx="7315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Inputs are images (28×28×1 or 224×224×3 tensors), not tabular rows</a:t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640080" y="461772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New architecture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4389120" y="4617720"/>
            <a:ext cx="7315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Convolutional layers replace the flat MLP first layer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640080" y="512064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New tool: transfer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4389120" y="5120640"/>
            <a:ext cx="7315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Pretrained models from torchvision — don't start from scratch</a:t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640080" y="562356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Same training loop</a:t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4389120" y="5623560"/>
            <a:ext cx="7315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zero_grad → forward → loss → backward → step (L07 unchanged)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Today's Three Questions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From pixels to predictions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548640" y="1783080"/>
            <a:ext cx="73152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48640" y="205740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1417320" y="178308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1645920" y="192024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does an image LOOK LIKE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to a neural network?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1645920" y="265176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 tensor of pixel intensities — and why MLPs choke on it.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548640" y="3246120"/>
            <a:ext cx="73152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548640" y="352044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1417320" y="324612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1645920" y="338328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IS a convolutional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neural network?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1645920" y="411480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Stack of (Conv → ReLU → Pool) blocks + a classifier head.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548640" y="4709160"/>
            <a:ext cx="73152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548640" y="498348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1417320" y="470916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1645920" y="484632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When should we reach for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transfer learning?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645920" y="557784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When data is small AND the domain is close to ImageNet.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An Image Is Just A Tensor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Numbers in a particular shape</a:t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548650" y="1737350"/>
            <a:ext cx="5486400" cy="46797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822960" y="1920240"/>
            <a:ext cx="5029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Grayscale 28×28 image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822960" y="2331720"/>
            <a:ext cx="50292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shape = (1, 28, 28)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822960" y="3108960"/>
            <a:ext cx="5029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Colour 224×224 photo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822960" y="3520440"/>
            <a:ext cx="50292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shape = (3, 224, 224)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822960" y="4297680"/>
            <a:ext cx="5029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PyTorch batch convention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822960" y="4709160"/>
            <a:ext cx="50292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(B, C, H, W)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6400802" y="1737350"/>
            <a:ext cx="5212200" cy="4679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6583680" y="1920240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Pixel values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6583680" y="2377440"/>
            <a:ext cx="4937760" cy="377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Raw: 0-255 (uint8)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Normalised: 0.0-1.0 (float)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333D4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Grayscale: 1 intensity per pixel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RGB: 3 intensities per pixel (R, G, B)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333D4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To a neural network this 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literally a NumPy array. 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special "image" magic.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Kernel Intuition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Nine numbers that detect edges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48650" y="1737350"/>
            <a:ext cx="5486400" cy="46797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822960" y="1874519"/>
            <a:ext cx="51206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An edge-detection kernel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22960" y="2377440"/>
            <a:ext cx="51206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-1   -1   -1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-1    8   -1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-1   -1   -1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22960" y="4572000"/>
            <a:ext cx="5120640" cy="1618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Flat region: 8 - 8 = 0  → output near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Edge: large difference → big output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Nine numbers detect ALL edges everywhere in the image.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6400801" y="1737350"/>
            <a:ext cx="5212200" cy="4679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6629400" y="1874519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Parameter savings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629400" y="233172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C5697"/>
                </a:solidFill>
                <a:latin typeface="Consolas"/>
                <a:ea typeface="Consolas"/>
                <a:cs typeface="Consolas"/>
                <a:sym typeface="Consolas"/>
              </a:rPr>
              <a:t>Conv2d(3, 32, kernel=3)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629400" y="2743200"/>
            <a:ext cx="4937760" cy="2481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32 kernels × (3×3×3) + 32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= 864 + 32 = 896 params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629400" y="365760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MLP first layer, same input/output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629400" y="4069080"/>
            <a:ext cx="4937760" cy="2481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224×224×3 × 32 = 4,816,896 params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6629400" y="5029200"/>
            <a:ext cx="4709160" cy="10789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858000" y="5120640"/>
            <a:ext cx="438912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~5,000× fewer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parameters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Stacking = Compositionality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Why deep CNNs work</a:t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548640" y="1828800"/>
            <a:ext cx="11064240" cy="75529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822960" y="192024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Each layer combines features from the layer below — hierarchy of visual concepts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548640" y="2926080"/>
            <a:ext cx="2011680" cy="2481681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640080" y="3063240"/>
            <a:ext cx="1828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Input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640080" y="3611880"/>
            <a:ext cx="1828800" cy="1510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raw pixels</a:t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2834640" y="2926080"/>
            <a:ext cx="2011680" cy="2481681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2926080" y="3063240"/>
            <a:ext cx="1828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Layer 1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2926080" y="3611880"/>
            <a:ext cx="1828800" cy="1510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edges</a:t>
            </a: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5120640" y="2926080"/>
            <a:ext cx="2011680" cy="2481681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5212080" y="3063240"/>
            <a:ext cx="1828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Layer 2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5212080" y="3611880"/>
            <a:ext cx="1828800" cy="1510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corners,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textures</a:t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7406640" y="2926080"/>
            <a:ext cx="2011680" cy="2481681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7498080" y="3063240"/>
            <a:ext cx="1828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Layer 3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7498080" y="3611880"/>
            <a:ext cx="1828800" cy="1510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object parts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(sleeves)</a:t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9692640" y="2926080"/>
            <a:ext cx="2011680" cy="2481681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9784080" y="3063240"/>
            <a:ext cx="1828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Layer 4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9784080" y="3611880"/>
            <a:ext cx="1828800" cy="1510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whole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categories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548640" y="548640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Each kernel is small (e.g. 3×3), but stacking 4-5 layers gives a large effective receptive field —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548640" y="585216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deep neurons see large chunks of the image and respond to complex compositions of simple parts.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CNN Block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Conv → ReLU → MaxPool</a:t>
            </a:r>
            <a:endParaRPr/>
          </a:p>
        </p:txBody>
      </p:sp>
      <p:sp>
        <p:nvSpPr>
          <p:cNvPr id="317" name="Google Shape;317;p26"/>
          <p:cNvSpPr/>
          <p:nvPr/>
        </p:nvSpPr>
        <p:spPr>
          <a:xfrm>
            <a:off x="548640" y="1737360"/>
            <a:ext cx="11064240" cy="6473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822960" y="17830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operations, stacked 2-3 times, then a Flatten + Linear head</a:t>
            </a:r>
            <a:endParaRPr/>
          </a:p>
        </p:txBody>
      </p:sp>
      <p:sp>
        <p:nvSpPr>
          <p:cNvPr id="319" name="Google Shape;319;p26"/>
          <p:cNvSpPr/>
          <p:nvPr/>
        </p:nvSpPr>
        <p:spPr>
          <a:xfrm>
            <a:off x="548650" y="2560323"/>
            <a:ext cx="11064300" cy="20793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822960" y="2743200"/>
            <a:ext cx="10515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Conv2d(in, out, kernel=3, padding=1)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ReLU()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MaxPool2d(2)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563703" y="4877375"/>
            <a:ext cx="1106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Repeat 2-3 times, doubling output channels each block.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563690" y="5312935"/>
            <a:ext cx="1106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Final spatial size shrinks (28→14→7), channel count grows (1→16→32). Then Flatten + Linear.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L07 training loop is unchanged — only the model definition changes. This TinyCNN (~106K params) beats the 235K-param flat MLP: 0.884 vs 0.871 test accuracy.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0" name="Google Shape;400;p3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31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Transfer Learning — Why</a:t>
            </a:r>
            <a:endParaRPr/>
          </a:p>
        </p:txBody>
      </p:sp>
      <p:sp>
        <p:nvSpPr>
          <p:cNvPr id="402" name="Google Shape;402;p31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Real catalogues have hundreds of images, not millions</a:t>
            </a:r>
            <a:endParaRPr/>
          </a:p>
        </p:txBody>
      </p:sp>
      <p:sp>
        <p:nvSpPr>
          <p:cNvPr id="403" name="Google Shape;403;p31"/>
          <p:cNvSpPr/>
          <p:nvPr/>
        </p:nvSpPr>
        <p:spPr>
          <a:xfrm>
            <a:off x="548640" y="1737360"/>
            <a:ext cx="11064240" cy="140268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p31"/>
          <p:cNvSpPr txBox="1"/>
          <p:nvPr/>
        </p:nvSpPr>
        <p:spPr>
          <a:xfrm>
            <a:off x="822960" y="1874519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The reality at NorthStar</a:t>
            </a:r>
            <a:endParaRPr/>
          </a:p>
        </p:txBody>
      </p:sp>
      <p:sp>
        <p:nvSpPr>
          <p:cNvPr id="405" name="Google Shape;405;p31"/>
          <p:cNvSpPr txBox="1"/>
          <p:nvPr/>
        </p:nvSpPr>
        <p:spPr>
          <a:xfrm>
            <a:off x="822960" y="2240280"/>
            <a:ext cx="105156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Fashion-MNIST has 60,000 training images. Marcus's catalogue has ~500 per class.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 a CNN from scratch on 500 images and it OVERFITS — memorises noise.</a:t>
            </a:r>
            <a:endParaRPr/>
          </a:p>
        </p:txBody>
      </p:sp>
      <p:sp>
        <p:nvSpPr>
          <p:cNvPr id="406" name="Google Shape;406;p31"/>
          <p:cNvSpPr/>
          <p:nvPr/>
        </p:nvSpPr>
        <p:spPr>
          <a:xfrm>
            <a:off x="548640" y="3200400"/>
            <a:ext cx="11064240" cy="32369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7" name="Google Shape;407;p31"/>
          <p:cNvSpPr txBox="1"/>
          <p:nvPr/>
        </p:nvSpPr>
        <p:spPr>
          <a:xfrm>
            <a:off x="822960" y="333756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fix — don't start from scratch</a:t>
            </a:r>
            <a:endParaRPr/>
          </a:p>
        </p:txBody>
      </p:sp>
      <p:sp>
        <p:nvSpPr>
          <p:cNvPr id="408" name="Google Shape;408;p31"/>
          <p:cNvSpPr txBox="1"/>
          <p:nvPr/>
        </p:nvSpPr>
        <p:spPr>
          <a:xfrm>
            <a:off x="822960" y="3840480"/>
            <a:ext cx="105156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Start from a model someone else trained on a much bigger dataset (ImageNet, 1.2M photos).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Keep its hard-won feature detectors. Replace only the final classification head.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Train that head on YOUR 500 images.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00">
              <a:solidFill>
                <a:srgbClr val="333D4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You're not training a model — you're adapting one.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2" name="Google Shape;442;p3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3" name="Google Shape;443;p33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Two Transfer-Learning Patterns</a:t>
            </a:r>
            <a:endParaRPr/>
          </a:p>
        </p:txBody>
      </p:sp>
      <p:sp>
        <p:nvSpPr>
          <p:cNvPr id="444" name="Google Shape;444;p33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Feature extraction vs fine-tuning</a:t>
            </a:r>
            <a:endParaRPr/>
          </a:p>
        </p:txBody>
      </p:sp>
      <p:sp>
        <p:nvSpPr>
          <p:cNvPr id="445" name="Google Shape;445;p33"/>
          <p:cNvSpPr/>
          <p:nvPr/>
        </p:nvSpPr>
        <p:spPr>
          <a:xfrm>
            <a:off x="548650" y="1783075"/>
            <a:ext cx="3170400" cy="2265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6" name="Google Shape;446;p33"/>
          <p:cNvSpPr txBox="1"/>
          <p:nvPr/>
        </p:nvSpPr>
        <p:spPr>
          <a:xfrm>
            <a:off x="622978" y="2508553"/>
            <a:ext cx="292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FEATURE EXTRACTION</a:t>
            </a:r>
            <a:endParaRPr/>
          </a:p>
        </p:txBody>
      </p:sp>
      <p:sp>
        <p:nvSpPr>
          <p:cNvPr id="447" name="Google Shape;447;p33"/>
          <p:cNvSpPr/>
          <p:nvPr/>
        </p:nvSpPr>
        <p:spPr>
          <a:xfrm>
            <a:off x="3719100" y="1783075"/>
            <a:ext cx="7893900" cy="22659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8" name="Google Shape;448;p33"/>
          <p:cNvSpPr txBox="1"/>
          <p:nvPr/>
        </p:nvSpPr>
        <p:spPr>
          <a:xfrm>
            <a:off x="3840475" y="2082701"/>
            <a:ext cx="758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1.  Freeze every layer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2.  Replace classifier head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3.  Train only the head</a:t>
            </a:r>
            <a:endParaRPr/>
          </a:p>
        </p:txBody>
      </p:sp>
      <p:sp>
        <p:nvSpPr>
          <p:cNvPr id="449" name="Google Shape;449;p33"/>
          <p:cNvSpPr txBox="1"/>
          <p:nvPr/>
        </p:nvSpPr>
        <p:spPr>
          <a:xfrm>
            <a:off x="3840480" y="3063240"/>
            <a:ext cx="7589520" cy="6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Fast. Few trainable params. Works when target domain matches pretraining domain.</a:t>
            </a:r>
            <a:endParaRPr/>
          </a:p>
        </p:txBody>
      </p:sp>
      <p:sp>
        <p:nvSpPr>
          <p:cNvPr id="450" name="Google Shape;450;p33"/>
          <p:cNvSpPr/>
          <p:nvPr/>
        </p:nvSpPr>
        <p:spPr>
          <a:xfrm>
            <a:off x="548650" y="4049099"/>
            <a:ext cx="3929100" cy="21030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1" name="Google Shape;451;p33"/>
          <p:cNvSpPr txBox="1"/>
          <p:nvPr/>
        </p:nvSpPr>
        <p:spPr>
          <a:xfrm>
            <a:off x="622963" y="4646700"/>
            <a:ext cx="292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FINE-TUNING</a:t>
            </a:r>
            <a:endParaRPr/>
          </a:p>
        </p:txBody>
      </p:sp>
      <p:sp>
        <p:nvSpPr>
          <p:cNvPr id="452" name="Google Shape;452;p33"/>
          <p:cNvSpPr/>
          <p:nvPr/>
        </p:nvSpPr>
        <p:spPr>
          <a:xfrm>
            <a:off x="3718975" y="3886200"/>
            <a:ext cx="7893900" cy="22659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3" name="Google Shape;453;p33"/>
          <p:cNvSpPr txBox="1"/>
          <p:nvPr/>
        </p:nvSpPr>
        <p:spPr>
          <a:xfrm>
            <a:off x="3840475" y="4172825"/>
            <a:ext cx="758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1.  Freeze most of the backbone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2.  Unfreeze the LAST conv block (layer4)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3.  Train with a TINY learning rate (1e-4)</a:t>
            </a:r>
            <a:endParaRPr/>
          </a:p>
        </p:txBody>
      </p:sp>
      <p:sp>
        <p:nvSpPr>
          <p:cNvPr id="454" name="Google Shape;454;p33"/>
          <p:cNvSpPr txBox="1"/>
          <p:nvPr/>
        </p:nvSpPr>
        <p:spPr>
          <a:xfrm>
            <a:off x="3840480" y="5166360"/>
            <a:ext cx="7589520" cy="6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Slower. More params updated. Adapts pretrained features when domain gap is large.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1" name="Google Shape;461;p3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34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Honest Result</a:t>
            </a:r>
            <a:endParaRPr/>
          </a:p>
        </p:txBody>
      </p:sp>
      <p:sp>
        <p:nvSpPr>
          <p:cNvPr id="463" name="Google Shape;463;p34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Transfer learning isn't free — domain match matters</a:t>
            </a:r>
            <a:endParaRPr/>
          </a:p>
        </p:txBody>
      </p:sp>
      <p:sp>
        <p:nvSpPr>
          <p:cNvPr id="464" name="Google Shape;464;p34"/>
          <p:cNvSpPr/>
          <p:nvPr/>
        </p:nvSpPr>
        <p:spPr>
          <a:xfrm>
            <a:off x="548640" y="1737360"/>
            <a:ext cx="11064240" cy="53949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5" name="Google Shape;465;p34"/>
          <p:cNvSpPr txBox="1"/>
          <p:nvPr/>
        </p:nvSpPr>
        <p:spPr>
          <a:xfrm>
            <a:off x="822960" y="178308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ImageNet (colour photos) → Fashion-MNIST (grayscale silhouettes): big domain gap</a:t>
            </a:r>
            <a:endParaRPr/>
          </a:p>
        </p:txBody>
      </p:sp>
      <p:sp>
        <p:nvSpPr>
          <p:cNvPr id="466" name="Google Shape;466;p34"/>
          <p:cNvSpPr/>
          <p:nvPr/>
        </p:nvSpPr>
        <p:spPr>
          <a:xfrm>
            <a:off x="548640" y="2423160"/>
            <a:ext cx="11064240" cy="53949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7" name="Google Shape;467;p34"/>
          <p:cNvSpPr txBox="1"/>
          <p:nvPr/>
        </p:nvSpPr>
        <p:spPr>
          <a:xfrm>
            <a:off x="777240" y="2468880"/>
            <a:ext cx="5943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Approach (2K imgs, head-only or fine-tune)</a:t>
            </a:r>
            <a:endParaRPr/>
          </a:p>
        </p:txBody>
      </p:sp>
      <p:sp>
        <p:nvSpPr>
          <p:cNvPr id="468" name="Google Shape;468;p34"/>
          <p:cNvSpPr txBox="1"/>
          <p:nvPr/>
        </p:nvSpPr>
        <p:spPr>
          <a:xfrm>
            <a:off x="7315200" y="246888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 accuracy</a:t>
            </a:r>
            <a:endParaRPr/>
          </a:p>
        </p:txBody>
      </p:sp>
      <p:sp>
        <p:nvSpPr>
          <p:cNvPr id="469" name="Google Shape;469;p34"/>
          <p:cNvSpPr/>
          <p:nvPr/>
        </p:nvSpPr>
        <p:spPr>
          <a:xfrm>
            <a:off x="548640" y="297180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0" name="Google Shape;470;p34"/>
          <p:cNvSpPr txBox="1"/>
          <p:nvPr/>
        </p:nvSpPr>
        <p:spPr>
          <a:xfrm>
            <a:off x="777240" y="3017520"/>
            <a:ext cx="5943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TinyCNN from scratch</a:t>
            </a:r>
            <a:endParaRPr/>
          </a:p>
        </p:txBody>
      </p:sp>
      <p:sp>
        <p:nvSpPr>
          <p:cNvPr id="471" name="Google Shape;471;p34"/>
          <p:cNvSpPr txBox="1"/>
          <p:nvPr/>
        </p:nvSpPr>
        <p:spPr>
          <a:xfrm>
            <a:off x="7315200" y="301752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0.787</a:t>
            </a:r>
            <a:endParaRPr/>
          </a:p>
        </p:txBody>
      </p:sp>
      <p:sp>
        <p:nvSpPr>
          <p:cNvPr id="472" name="Google Shape;472;p34"/>
          <p:cNvSpPr/>
          <p:nvPr/>
        </p:nvSpPr>
        <p:spPr>
          <a:xfrm>
            <a:off x="548640" y="3474720"/>
            <a:ext cx="1106424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3" name="Google Shape;473;p34"/>
          <p:cNvSpPr txBox="1"/>
          <p:nvPr/>
        </p:nvSpPr>
        <p:spPr>
          <a:xfrm>
            <a:off x="777240" y="3520440"/>
            <a:ext cx="5943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ResNet18 transfer — head only</a:t>
            </a:r>
            <a:endParaRPr/>
          </a:p>
        </p:txBody>
      </p:sp>
      <p:sp>
        <p:nvSpPr>
          <p:cNvPr id="474" name="Google Shape;474;p34"/>
          <p:cNvSpPr txBox="1"/>
          <p:nvPr/>
        </p:nvSpPr>
        <p:spPr>
          <a:xfrm>
            <a:off x="7315200" y="352044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0.715  ← loses!</a:t>
            </a:r>
            <a:endParaRPr/>
          </a:p>
        </p:txBody>
      </p:sp>
      <p:sp>
        <p:nvSpPr>
          <p:cNvPr id="475" name="Google Shape;475;p34"/>
          <p:cNvSpPr/>
          <p:nvPr/>
        </p:nvSpPr>
        <p:spPr>
          <a:xfrm>
            <a:off x="548640" y="3977639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6" name="Google Shape;476;p34"/>
          <p:cNvSpPr txBox="1"/>
          <p:nvPr/>
        </p:nvSpPr>
        <p:spPr>
          <a:xfrm>
            <a:off x="777240" y="4023359"/>
            <a:ext cx="5943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ResNet18 — fine-tune layer4</a:t>
            </a:r>
            <a:endParaRPr/>
          </a:p>
        </p:txBody>
      </p:sp>
      <p:sp>
        <p:nvSpPr>
          <p:cNvPr id="477" name="Google Shape;477;p34"/>
          <p:cNvSpPr txBox="1"/>
          <p:nvPr/>
        </p:nvSpPr>
        <p:spPr>
          <a:xfrm>
            <a:off x="7315200" y="4023359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0.832  ← wins</a:t>
            </a:r>
            <a:endParaRPr/>
          </a:p>
        </p:txBody>
      </p:sp>
      <p:sp>
        <p:nvSpPr>
          <p:cNvPr id="478" name="Google Shape;478;p34"/>
          <p:cNvSpPr/>
          <p:nvPr/>
        </p:nvSpPr>
        <p:spPr>
          <a:xfrm>
            <a:off x="548640" y="4813493"/>
            <a:ext cx="11064300" cy="1510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9" name="Google Shape;479;p34"/>
          <p:cNvSpPr txBox="1"/>
          <p:nvPr/>
        </p:nvSpPr>
        <p:spPr>
          <a:xfrm>
            <a:off x="822960" y="5166360"/>
            <a:ext cx="10515600" cy="129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Lesson: transfer learning isn't magic. On a wide domain gap, head-only feature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extraction can lose. Fine-tune the last conv block at a tiny LR to recover.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For Marcus's real catalogue (colour photos, closer to ImageNet), expect a much smaller gap.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7" name="Google Shape;487;p35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8" name="Google Shape;488;p35"/>
          <p:cNvSpPr txBox="1"/>
          <p:nvPr/>
        </p:nvSpPr>
        <p:spPr>
          <a:xfrm>
            <a:off x="731520" y="91440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CODE-ALONG</a:t>
            </a:r>
            <a:endParaRPr/>
          </a:p>
        </p:txBody>
      </p:sp>
      <p:sp>
        <p:nvSpPr>
          <p:cNvPr id="489" name="Google Shape;489;p35"/>
          <p:cNvSpPr txBox="1"/>
          <p:nvPr/>
        </p:nvSpPr>
        <p:spPr>
          <a:xfrm>
            <a:off x="731520" y="1463040"/>
            <a:ext cx="106984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Open: 04_transfer_learning.ipynb</a:t>
            </a:r>
            <a:endParaRPr/>
          </a:p>
        </p:txBody>
      </p:sp>
      <p:sp>
        <p:nvSpPr>
          <p:cNvPr id="490" name="Google Shape;490;p35"/>
          <p:cNvSpPr txBox="1"/>
          <p:nvPr/>
        </p:nvSpPr>
        <p:spPr>
          <a:xfrm>
            <a:off x="731520" y="2834640"/>
            <a:ext cx="10698480" cy="6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What you'll do</a:t>
            </a:r>
            <a:endParaRPr/>
          </a:p>
        </p:txBody>
      </p:sp>
      <p:sp>
        <p:nvSpPr>
          <p:cNvPr id="491" name="Google Shape;491;p35"/>
          <p:cNvSpPr txBox="1"/>
          <p:nvPr/>
        </p:nvSpPr>
        <p:spPr>
          <a:xfrm>
            <a:off x="914400" y="33832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Subsample Fashion-MNIST to 200 images per class (small data)</a:t>
            </a:r>
            <a:endParaRPr/>
          </a:p>
        </p:txBody>
      </p:sp>
      <p:sp>
        <p:nvSpPr>
          <p:cNvPr id="492" name="Google Shape;492;p35"/>
          <p:cNvSpPr txBox="1"/>
          <p:nvPr/>
        </p:nvSpPr>
        <p:spPr>
          <a:xfrm>
            <a:off x="914400" y="38862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 TinyCNN from scratch as baseline</a:t>
            </a:r>
            <a:endParaRPr/>
          </a:p>
        </p:txBody>
      </p:sp>
      <p:sp>
        <p:nvSpPr>
          <p:cNvPr id="493" name="Google Shape;493;p35"/>
          <p:cNvSpPr txBox="1"/>
          <p:nvPr/>
        </p:nvSpPr>
        <p:spPr>
          <a:xfrm>
            <a:off x="914400" y="43891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Load pretrained ResNet18, freeze backbone, train head only</a:t>
            </a:r>
            <a:endParaRPr/>
          </a:p>
        </p:txBody>
      </p:sp>
      <p:sp>
        <p:nvSpPr>
          <p:cNvPr id="494" name="Google Shape;494;p35"/>
          <p:cNvSpPr txBox="1"/>
          <p:nvPr/>
        </p:nvSpPr>
        <p:spPr>
          <a:xfrm>
            <a:off x="914400" y="489204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Sweep training set size, then fine-tune layer4 in Extension</a:t>
            </a:r>
            <a:endParaRPr/>
          </a:p>
        </p:txBody>
      </p:sp>
      <p:sp>
        <p:nvSpPr>
          <p:cNvPr id="495" name="Google Shape;495;p35"/>
          <p:cNvSpPr/>
          <p:nvPr/>
        </p:nvSpPr>
        <p:spPr>
          <a:xfrm>
            <a:off x="731520" y="5212080"/>
            <a:ext cx="10698480" cy="1078992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6" name="Google Shape;496;p35"/>
          <p:cNvSpPr txBox="1"/>
          <p:nvPr/>
        </p:nvSpPr>
        <p:spPr>
          <a:xfrm>
            <a:off x="914400" y="539496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25 minutes  ·  Stop at the Extension marker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3" name="Google Shape;503;p3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4" name="Google Shape;504;p3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Sarah's Friday Recommendation</a:t>
            </a:r>
            <a:endParaRPr/>
          </a:p>
        </p:txBody>
      </p:sp>
      <p:sp>
        <p:nvSpPr>
          <p:cNvPr id="505" name="Google Shape;505;p36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Production-ready transfer learning</a:t>
            </a:r>
            <a:endParaRPr/>
          </a:p>
        </p:txBody>
      </p:sp>
      <p:sp>
        <p:nvSpPr>
          <p:cNvPr id="506" name="Google Shape;506;p36"/>
          <p:cNvSpPr/>
          <p:nvPr/>
        </p:nvSpPr>
        <p:spPr>
          <a:xfrm>
            <a:off x="548640" y="1737360"/>
            <a:ext cx="11064240" cy="2265883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7" name="Google Shape;507;p36"/>
          <p:cNvSpPr txBox="1"/>
          <p:nvPr/>
        </p:nvSpPr>
        <p:spPr>
          <a:xfrm>
            <a:off x="822960" y="1874519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Sarah, end of L08:</a:t>
            </a:r>
            <a:endParaRPr/>
          </a:p>
        </p:txBody>
      </p:sp>
      <p:sp>
        <p:nvSpPr>
          <p:cNvPr id="508" name="Google Shape;508;p36"/>
          <p:cNvSpPr txBox="1"/>
          <p:nvPr/>
        </p:nvSpPr>
        <p:spPr>
          <a:xfrm>
            <a:off x="822960" y="2286000"/>
            <a:ext cx="10515600" cy="1618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"Start with a pretrained ResNet18. Train new head for a few epochs.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Unfreeze the last conv block (layer4) at LR 1e-4. Fine-tune until val flattens.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Expect to land in the low-90s top-1 on the 10 main categories with 500 photos per class — projected, since this colour catalogue sits much closer to ImageNet than Fashion-MNIST."</a:t>
            </a:r>
            <a:endParaRPr/>
          </a:p>
        </p:txBody>
      </p:sp>
      <p:sp>
        <p:nvSpPr>
          <p:cNvPr id="509" name="Google Shape;509;p36"/>
          <p:cNvSpPr/>
          <p:nvPr/>
        </p:nvSpPr>
        <p:spPr>
          <a:xfrm>
            <a:off x="548640" y="3840480"/>
            <a:ext cx="11064240" cy="53949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0" name="Google Shape;510;p36"/>
          <p:cNvSpPr txBox="1"/>
          <p:nvPr/>
        </p:nvSpPr>
        <p:spPr>
          <a:xfrm>
            <a:off x="822960" y="3982896"/>
            <a:ext cx="1051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Recipe</a:t>
            </a:r>
            <a:endParaRPr/>
          </a:p>
        </p:txBody>
      </p:sp>
      <p:sp>
        <p:nvSpPr>
          <p:cNvPr id="511" name="Google Shape;511;p36"/>
          <p:cNvSpPr txBox="1"/>
          <p:nvPr/>
        </p:nvSpPr>
        <p:spPr>
          <a:xfrm>
            <a:off x="822960" y="448056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1.  Load pretrained ResNet18 backbone</a:t>
            </a:r>
            <a:endParaRPr/>
          </a:p>
        </p:txBody>
      </p:sp>
      <p:sp>
        <p:nvSpPr>
          <p:cNvPr id="512" name="Google Shape;512;p36"/>
          <p:cNvSpPr txBox="1"/>
          <p:nvPr/>
        </p:nvSpPr>
        <p:spPr>
          <a:xfrm>
            <a:off x="822960" y="48920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2.  Replace fc head → 10-class linear layer</a:t>
            </a:r>
            <a:endParaRPr/>
          </a:p>
        </p:txBody>
      </p:sp>
      <p:sp>
        <p:nvSpPr>
          <p:cNvPr id="513" name="Google Shape;513;p36"/>
          <p:cNvSpPr txBox="1"/>
          <p:nvPr/>
        </p:nvSpPr>
        <p:spPr>
          <a:xfrm>
            <a:off x="822960" y="530352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3.  Train head for 3 epochs at LR 1e-3</a:t>
            </a:r>
            <a:endParaRPr/>
          </a:p>
        </p:txBody>
      </p:sp>
      <p:sp>
        <p:nvSpPr>
          <p:cNvPr id="514" name="Google Shape;514;p36"/>
          <p:cNvSpPr txBox="1"/>
          <p:nvPr/>
        </p:nvSpPr>
        <p:spPr>
          <a:xfrm>
            <a:off x="822960" y="571500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4.  Unfreeze layer4, fine-tune at LR 1e-4 until validation curve flattens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4" name="Google Shape;544;p3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5" name="Google Shape;545;p3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Things To Remember</a:t>
            </a:r>
            <a:endParaRPr/>
          </a:p>
        </p:txBody>
      </p:sp>
      <p:sp>
        <p:nvSpPr>
          <p:cNvPr id="546" name="Google Shape;546;p38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L08 takeaways</a:t>
            </a:r>
            <a:endParaRPr/>
          </a:p>
        </p:txBody>
      </p:sp>
      <p:sp>
        <p:nvSpPr>
          <p:cNvPr id="547" name="Google Shape;547;p38"/>
          <p:cNvSpPr/>
          <p:nvPr/>
        </p:nvSpPr>
        <p:spPr>
          <a:xfrm>
            <a:off x="548640" y="1783080"/>
            <a:ext cx="73152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8" name="Google Shape;548;p38"/>
          <p:cNvSpPr txBox="1"/>
          <p:nvPr/>
        </p:nvSpPr>
        <p:spPr>
          <a:xfrm>
            <a:off x="548640" y="205740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549" name="Google Shape;549;p38"/>
          <p:cNvSpPr/>
          <p:nvPr/>
        </p:nvSpPr>
        <p:spPr>
          <a:xfrm>
            <a:off x="1417320" y="178308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38"/>
          <p:cNvSpPr txBox="1"/>
          <p:nvPr/>
        </p:nvSpPr>
        <p:spPr>
          <a:xfrm>
            <a:off x="1645920" y="192024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Convolutions exploit locality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and translation invariance</a:t>
            </a:r>
            <a:endParaRPr/>
          </a:p>
        </p:txBody>
      </p:sp>
      <p:sp>
        <p:nvSpPr>
          <p:cNvPr id="551" name="Google Shape;551;p38"/>
          <p:cNvSpPr txBox="1"/>
          <p:nvPr/>
        </p:nvSpPr>
        <p:spPr>
          <a:xfrm>
            <a:off x="1645920" y="265176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Same kernel slides everywhere → fewer params, better inductive bias for images.</a:t>
            </a:r>
            <a:endParaRPr/>
          </a:p>
        </p:txBody>
      </p:sp>
      <p:sp>
        <p:nvSpPr>
          <p:cNvPr id="552" name="Google Shape;552;p38"/>
          <p:cNvSpPr/>
          <p:nvPr/>
        </p:nvSpPr>
        <p:spPr>
          <a:xfrm>
            <a:off x="548640" y="3246120"/>
            <a:ext cx="73152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3" name="Google Shape;553;p38"/>
          <p:cNvSpPr txBox="1"/>
          <p:nvPr/>
        </p:nvSpPr>
        <p:spPr>
          <a:xfrm>
            <a:off x="548640" y="352044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554" name="Google Shape;554;p38"/>
          <p:cNvSpPr/>
          <p:nvPr/>
        </p:nvSpPr>
        <p:spPr>
          <a:xfrm>
            <a:off x="1417320" y="324612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5" name="Google Shape;555;p38"/>
          <p:cNvSpPr txBox="1"/>
          <p:nvPr/>
        </p:nvSpPr>
        <p:spPr>
          <a:xfrm>
            <a:off x="1645920" y="338328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PyTorch training loop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doesn't change</a:t>
            </a:r>
            <a:endParaRPr/>
          </a:p>
        </p:txBody>
      </p:sp>
      <p:sp>
        <p:nvSpPr>
          <p:cNvPr id="556" name="Google Shape;556;p38"/>
          <p:cNvSpPr txBox="1"/>
          <p:nvPr/>
        </p:nvSpPr>
        <p:spPr>
          <a:xfrm>
            <a:off x="1645920" y="411480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Conv2d / MaxPool2d are drop-in replacements for Linear. L07's loop just works.</a:t>
            </a:r>
            <a:endParaRPr/>
          </a:p>
        </p:txBody>
      </p:sp>
      <p:sp>
        <p:nvSpPr>
          <p:cNvPr id="557" name="Google Shape;557;p38"/>
          <p:cNvSpPr/>
          <p:nvPr/>
        </p:nvSpPr>
        <p:spPr>
          <a:xfrm>
            <a:off x="548640" y="4709160"/>
            <a:ext cx="73152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8" name="Google Shape;558;p38"/>
          <p:cNvSpPr txBox="1"/>
          <p:nvPr/>
        </p:nvSpPr>
        <p:spPr>
          <a:xfrm>
            <a:off x="548640" y="498348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559" name="Google Shape;559;p38"/>
          <p:cNvSpPr/>
          <p:nvPr/>
        </p:nvSpPr>
        <p:spPr>
          <a:xfrm>
            <a:off x="1417320" y="470916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0" name="Google Shape;560;p38"/>
          <p:cNvSpPr txBox="1"/>
          <p:nvPr/>
        </p:nvSpPr>
        <p:spPr>
          <a:xfrm>
            <a:off x="1645920" y="484632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Don't train CNNs from scratch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on small data</a:t>
            </a:r>
            <a:endParaRPr/>
          </a:p>
        </p:txBody>
      </p:sp>
      <p:sp>
        <p:nvSpPr>
          <p:cNvPr id="561" name="Google Shape;561;p38"/>
          <p:cNvSpPr txBox="1"/>
          <p:nvPr/>
        </p:nvSpPr>
        <p:spPr>
          <a:xfrm>
            <a:off x="1645920" y="557784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Use a pretrained backbone. Head-only sometimes works, fine-tuning usually does.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1" name="Google Shape;631;p4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2" name="Google Shape;632;p41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Bridge to L09</a:t>
            </a:r>
            <a:endParaRPr/>
          </a:p>
        </p:txBody>
      </p:sp>
      <p:sp>
        <p:nvSpPr>
          <p:cNvPr id="633" name="Google Shape;633;p41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From pixels to words</a:t>
            </a:r>
            <a:endParaRPr/>
          </a:p>
        </p:txBody>
      </p:sp>
      <p:sp>
        <p:nvSpPr>
          <p:cNvPr id="634" name="Google Shape;634;p41"/>
          <p:cNvSpPr/>
          <p:nvPr/>
        </p:nvSpPr>
        <p:spPr>
          <a:xfrm>
            <a:off x="548640" y="1737360"/>
            <a:ext cx="11064240" cy="172638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5" name="Google Shape;635;p41"/>
          <p:cNvSpPr txBox="1"/>
          <p:nvPr/>
        </p:nvSpPr>
        <p:spPr>
          <a:xfrm>
            <a:off x="822960" y="1874519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Marcus, after the auto-tagger ships:</a:t>
            </a:r>
            <a:endParaRPr/>
          </a:p>
        </p:txBody>
      </p:sp>
      <p:sp>
        <p:nvSpPr>
          <p:cNvPr id="636" name="Google Shape;636;p41"/>
          <p:cNvSpPr txBox="1"/>
          <p:nvPr/>
        </p:nvSpPr>
        <p:spPr>
          <a:xfrm>
            <a:off x="822960" y="2286000"/>
            <a:ext cx="105156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"Can we also do natural-language search?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customer types 'blue summer dress' — surface the right products."</a:t>
            </a:r>
            <a:endParaRPr/>
          </a:p>
        </p:txBody>
      </p:sp>
      <p:sp>
        <p:nvSpPr>
          <p:cNvPr id="637" name="Google Shape;637;p41"/>
          <p:cNvSpPr txBox="1"/>
          <p:nvPr/>
        </p:nvSpPr>
        <p:spPr>
          <a:xfrm>
            <a:off x="548640" y="356616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Next modality: text</a:t>
            </a:r>
            <a:endParaRPr/>
          </a:p>
        </p:txBody>
      </p:sp>
      <p:sp>
        <p:nvSpPr>
          <p:cNvPr id="638" name="Google Shape;638;p41"/>
          <p:cNvSpPr/>
          <p:nvPr/>
        </p:nvSpPr>
        <p:spPr>
          <a:xfrm>
            <a:off x="548640" y="4206240"/>
            <a:ext cx="3657600" cy="863193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9" name="Google Shape;639;p41"/>
          <p:cNvSpPr txBox="1"/>
          <p:nvPr/>
        </p:nvSpPr>
        <p:spPr>
          <a:xfrm>
            <a:off x="777240" y="4343400"/>
            <a:ext cx="33832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L09 — Embeddings &amp; NLP foundations</a:t>
            </a:r>
            <a:endParaRPr/>
          </a:p>
        </p:txBody>
      </p:sp>
      <p:sp>
        <p:nvSpPr>
          <p:cNvPr id="640" name="Google Shape;640;p41"/>
          <p:cNvSpPr txBox="1"/>
          <p:nvPr/>
        </p:nvSpPr>
        <p:spPr>
          <a:xfrm>
            <a:off x="4480560" y="4343400"/>
            <a:ext cx="70408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Turning words into vectors. Tokenisation, word embeddings, similarity search.</a:t>
            </a:r>
            <a:endParaRPr/>
          </a:p>
        </p:txBody>
      </p:sp>
      <p:sp>
        <p:nvSpPr>
          <p:cNvPr id="641" name="Google Shape;641;p41"/>
          <p:cNvSpPr/>
          <p:nvPr/>
        </p:nvSpPr>
        <p:spPr>
          <a:xfrm>
            <a:off x="548640" y="5120640"/>
            <a:ext cx="3657600" cy="863193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2" name="Google Shape;642;p41"/>
          <p:cNvSpPr txBox="1"/>
          <p:nvPr/>
        </p:nvSpPr>
        <p:spPr>
          <a:xfrm>
            <a:off x="777240" y="5257800"/>
            <a:ext cx="33832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L10 — Transformers &amp; GenAI</a:t>
            </a:r>
            <a:endParaRPr/>
          </a:p>
        </p:txBody>
      </p:sp>
      <p:sp>
        <p:nvSpPr>
          <p:cNvPr id="643" name="Google Shape;643;p41"/>
          <p:cNvSpPr txBox="1"/>
          <p:nvPr/>
        </p:nvSpPr>
        <p:spPr>
          <a:xfrm>
            <a:off x="4480560" y="5257800"/>
            <a:ext cx="70408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architecture behind GPT, BERT, ChatGPT. Attention, generation, fine-tuning.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TU SCTP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